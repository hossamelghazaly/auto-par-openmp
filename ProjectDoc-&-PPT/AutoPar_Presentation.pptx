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Heat Diffusion</c:v>
                </c:pt>
              </c:strCache>
            </c:strRef>
          </c:tx>
          <c:spPr>
            <a:solidFill>
              <a:srgbClr val="028090"/>
            </a:solidFill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1T</c:v>
                  </c:pt>
                  <c:pt idx="1">
                    <c:v>2T</c:v>
                  </c:pt>
                  <c:pt idx="2">
                    <c:v>4T</c:v>
                  </c:pt>
                  <c:pt idx="3">
                    <c:v>8T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1.71</c:v>
                </c:pt>
                <c:pt idx="2">
                  <c:v>2.46</c:v>
                </c:pt>
                <c:pt idx="3">
                  <c:v>3.17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Ideal</c:v>
                </c:pt>
              </c:strCache>
            </c:strRef>
          </c:tx>
          <c:spPr>
            <a:solidFill>
              <a:srgbClr val="CCCCCC"/>
            </a:solidFill>
            <a:ln w="31750" cap="flat">
              <a:solidFill>
                <a:srgbClr val="CCCCC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CCCCC"/>
              </a:solidFill>
              <a:ln w="9525" cap="flat">
                <a:solidFill>
                  <a:srgbClr val="CCCCC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1T</c:v>
                  </c:pt>
                  <c:pt idx="1">
                    <c:v>2T</c:v>
                  </c:pt>
                  <c:pt idx="2">
                    <c:v>4T</c:v>
                  </c:pt>
                  <c:pt idx="3">
                    <c:v>8T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1T</c:v>
                  </c:pt>
                  <c:pt idx="1">
                    <c:v>2T</c:v>
                  </c:pt>
                  <c:pt idx="2">
                    <c:v>4T</c:v>
                  </c:pt>
                  <c:pt idx="3">
                    <c:v>8T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0.97</c:v>
                </c:pt>
                <c:pt idx="2">
                  <c:v>1.85</c:v>
                </c:pt>
                <c:pt idx="3">
                  <c:v>2.46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Compiler-Inspired Source-to-Source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Parallelization Tool for Affine Loop Nests Using OpenMP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2560320" cy="91440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63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354787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3063240"/>
            <a:ext cx="2560320" cy="91440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063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91840" y="354787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3063240"/>
            <a:ext cx="2560320" cy="91440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063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3.17×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26480" y="354787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Speedup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Hossamaldeen Elghazaly · Fady Farouk · Youssef Maged · Ramez Thabet · Omar Mahmoud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CSCI465/ECEN433 · Introduction to Parallel Computing · Nile University ·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Why Parallelization is Hard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40233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868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37490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71600"/>
            <a:ext cx="3794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CPUs ship with 8–16+ cores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scientific code runs on 1 core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90% of computing power sits idle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grows with every CPU generation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3566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8–16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05740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available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057400" y="4206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actually used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822960"/>
            <a:ext cx="44805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26280" y="8686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Developers Avoid It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26280" y="1261872"/>
            <a:ext cx="4251960" cy="3657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4173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1655064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threads writing the same memory → silent wrong results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07568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dependencies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231343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a[i] reads a[i-1] → iterations are NOT independent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273405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patterns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29718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+= a[i] needs a special OpenMP clause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3392424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aliasing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363016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*(ptr+i) may overlap with another array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405079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policy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428853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 dynamic — wrong choice hurts performance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Auto-Par performs all of this analysis automatically — zero manual effort from the programmer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Auto-Par Works — The 7-Step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4297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69264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969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8961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 Detection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12344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#pragma scop / #pragma endscop markers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31720" y="1673352"/>
            <a:ext cx="0" cy="13716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810512"/>
            <a:ext cx="4297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975104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975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190195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Extraction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22402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for-loops &amp; convert while-loops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31720" y="2679192"/>
            <a:ext cx="0" cy="13716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2816352"/>
            <a:ext cx="429768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98094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980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290779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8-Stage Dependency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32461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checks in priority order per loop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331720" y="3685032"/>
            <a:ext cx="0" cy="13716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822192"/>
            <a:ext cx="4297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3986784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1248" y="391363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Parallelization Decision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" y="42519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/ REDUCTION / UNSAFE / SKIPPED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804672"/>
            <a:ext cx="4297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36592" y="969264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969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21808" y="8961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 Injection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21808" y="12344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#pragma omp parallel for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12280" y="1673352"/>
            <a:ext cx="0" cy="13716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1810512"/>
            <a:ext cx="4297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36592" y="1975104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1975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21808" y="190195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21808" y="22402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report.txt — one line per loop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812280" y="2679192"/>
            <a:ext cx="0" cy="13716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2816352"/>
            <a:ext cx="4297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36592" y="2980944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2980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21808" y="290779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Harness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321808" y="32461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Compile, run, measure, generate 10 plots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72000" y="804672"/>
            <a:ext cx="0" cy="4114800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2880" y="47091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sequential C file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63440" y="47091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parallelized C + report.txt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8-Stage Dependency Analysis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4343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04672"/>
            <a:ext cx="54864" cy="8686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04672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87782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22529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malloc/calloc inside loop → UNSAFE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2880" y="1810512"/>
            <a:ext cx="4343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810512"/>
            <a:ext cx="54864" cy="8686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810512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188366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23113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calls itself → UNSAFE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2816352"/>
            <a:ext cx="4343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2816352"/>
            <a:ext cx="54864" cy="8686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816352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7240" y="288950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Functions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23697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math whitelist → UNSAFE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2880" y="3822192"/>
            <a:ext cx="4343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3822192"/>
            <a:ext cx="54864" cy="8686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3822192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7240" y="389534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Pointers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424281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*(ptr+i) pattern → UNSAFE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804672"/>
            <a:ext cx="4343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804672"/>
            <a:ext cx="54864" cy="8686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804672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03520" y="87782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Detection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122529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+= a[i] → REDUCTION ✓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1810512"/>
            <a:ext cx="4343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1810512"/>
            <a:ext cx="54864" cy="8686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1810512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03520" y="188366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Index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223113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a[i-1] or a[i+1] → UNSAFE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09160" y="2816352"/>
            <a:ext cx="4343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2816352"/>
            <a:ext cx="54864" cy="8686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2816352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303520" y="288950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Conflict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03520" y="323697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array read &amp; written → UNSAFE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09160" y="3822192"/>
            <a:ext cx="4343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822192"/>
            <a:ext cx="54864" cy="8686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18888" y="3822192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303520" y="389534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Normalize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03520" y="424281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*(ptr+i) → ptr[i] → re-analyze → SAFE ✓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82880" y="4754880"/>
            <a:ext cx="877824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475488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Outermost-only policy: inner loops are SKIPPED — never incorrectly parallelized  |  Returns at FIRST unsafe condition found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Accuracy — 100% Classification on 14 Analyzed Loops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48463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868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Results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4617720" cy="1691640"/>
        </p:xfrm>
        <a:graphic>
          <a:graphicData uri="http://schemas.openxmlformats.org/drawingml/2006/table">
            <a:tbl>
              <a:tblPr/>
              <a:tblGrid>
                <a:gridCol w="1554480"/>
                <a:gridCol w="566928"/>
                <a:gridCol w="566928"/>
                <a:gridCol w="566928"/>
                <a:gridCol w="658368"/>
                <a:gridCol w="658368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Unsafe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test_safe.c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test_heat.c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test_matmul.c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1463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74320" y="30449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74320" y="349300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Analyzed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(excl. skipped)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847088" y="3017520"/>
            <a:ext cx="1463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847088" y="30449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847088" y="349300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419856" y="3017520"/>
            <a:ext cx="1463040" cy="960120"/>
          </a:xfrm>
          <a:prstGeom prst="rect">
            <a:avLst/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419856" y="30449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3419856" y="349300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212080" y="804672"/>
            <a:ext cx="3749040" cy="42245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303520" y="868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Classification Examples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303520" y="1298448"/>
            <a:ext cx="777240" cy="29260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03520" y="12984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126480" y="1298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a[i] = b[i] + c[i]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12648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#pragma omp parallel for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303520" y="1920240"/>
            <a:ext cx="77724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03520" y="19202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2648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+= a[i]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126480" y="21945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reduction(+:sum)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303520" y="2542032"/>
            <a:ext cx="777240" cy="2926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03520" y="25420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126480" y="2542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a[i] = a[i-1] + 1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126480" y="28163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loop-carried dependency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303520" y="3163824"/>
            <a:ext cx="777240" cy="29260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03520" y="31638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26480" y="31638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*(ptr + i) = b[i]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126480" y="34381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pointer normalized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303520" y="3785616"/>
            <a:ext cx="777240" cy="29260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0" y="37856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6126480" y="37856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a[i] = sqrt(b[i])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126480" y="40599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whitelisted function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303520" y="4407408"/>
            <a:ext cx="777240" cy="2926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03520" y="440740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6126480" y="4407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result[i]=userFunc(a[i])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126480" y="4681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unknown function call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 — 8-Core Machine, Windows 11, GCC 13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4206240" cy="42245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04672"/>
            <a:ext cx="420624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04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Diffusion  (1024×1024, 5000 iterations)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07008"/>
          <a:ext cx="3977640" cy="1463040"/>
        </p:xfrm>
        <a:graphic>
          <a:graphicData uri="http://schemas.openxmlformats.org/drawingml/2006/table">
            <a:tbl>
              <a:tblPr/>
              <a:tblGrid>
                <a:gridCol w="994410"/>
                <a:gridCol w="994410"/>
                <a:gridCol w="994410"/>
                <a:gridCol w="99441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(seq)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1.71×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85.5%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2.46×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61.4%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3.17×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39.6%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74320" y="2743200"/>
            <a:ext cx="3977640" cy="502920"/>
          </a:xfrm>
          <a:prstGeom prst="rect">
            <a:avLst/>
          </a:prstGeom>
          <a:solidFill>
            <a:srgbClr val="EBF8FF"/>
          </a:solidFill>
          <a:ln w="6350">
            <a:solidFill>
              <a:srgbClr val="BEE3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274320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 serial fraction  f ≈ 0.169  →  theoretical max  ≈ 5.9×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28600" y="3337560"/>
          <a:ext cx="411480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4617720" y="804672"/>
            <a:ext cx="4343400" cy="42245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17720" y="804672"/>
            <a:ext cx="434340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80467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Multiplication  (512×512)  +  Vector Addition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07008"/>
          <a:ext cx="4114800" cy="1463040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(seq)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48.5%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46.2%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2.46×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30.8%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4709160" y="2743200"/>
            <a:ext cx="4114800" cy="502920"/>
          </a:xfrm>
          <a:prstGeom prst="rect">
            <a:avLst/>
          </a:prstGeom>
          <a:solidFill>
            <a:srgbClr val="FFFAF0"/>
          </a:solidFill>
          <a:ln w="6350">
            <a:solidFill>
              <a:srgbClr val="FEEBC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54880" y="27432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addition flat at 1.14× — memory-bandwidth-bound,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tool error (DRAM saturates at 2 threads)</a:t>
            </a:r>
            <a:endParaRPr lang="en-US" sz="100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4663440" y="3337560"/>
          <a:ext cx="420624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03920" cy="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41248"/>
            <a:ext cx="2057400" cy="1417320"/>
          </a:xfrm>
          <a:prstGeom prst="rect">
            <a:avLst/>
          </a:prstGeom>
          <a:solidFill>
            <a:srgbClr val="028090">
              <a:alpha val="18000"/>
            </a:srgbClr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686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28600" y="14630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76479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analyzed loops — verified manually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23160" y="841248"/>
            <a:ext cx="2057400" cy="1417320"/>
          </a:xfrm>
          <a:prstGeom prst="rect">
            <a:avLst/>
          </a:prstGeom>
          <a:solidFill>
            <a:srgbClr val="028090">
              <a:alpha val="18000"/>
            </a:srgbClr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8686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23160" y="14630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Parallelization Rate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176479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10 loops successfully parallelized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7720" y="841248"/>
            <a:ext cx="2057400" cy="1417320"/>
          </a:xfrm>
          <a:prstGeom prst="rect">
            <a:avLst/>
          </a:prstGeom>
          <a:solidFill>
            <a:srgbClr val="028090">
              <a:alpha val="18000"/>
            </a:srgbClr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8686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3.17×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17720" y="14630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Speedup (Heat Diffusion)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176479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5.54s → 1.75s at 8 threads, 85.5% eff @ 2T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12280" y="841248"/>
            <a:ext cx="2057400" cy="1417320"/>
          </a:xfrm>
          <a:prstGeom prst="rect">
            <a:avLst/>
          </a:prstGeom>
          <a:solidFill>
            <a:srgbClr val="028090">
              <a:alpha val="18000"/>
            </a:srgbClr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8686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2.46×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12280" y="14630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Speedup (MatMul 512×512)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12280" y="176479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0.133s → 0.054s at 8 threads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4320" y="23957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2743200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parallelizer.py  —  7-step source-to-source tool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benchmark.py  —  full automated harness, 10 plots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test_safe.c / test_heat.c / test_matmul.c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report.txt  —  combined analysis, all 3 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IEEE Paper  —  8 pages, IEEEoj format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239572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2743200"/>
            <a:ext cx="4297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Replace regex parser with pycparser for broader C support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interprocedural analysis for user-defined functions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Implement loop tiling and interchange transformations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Extend output to CUDA for GPU acceleration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" y="4663440"/>
            <a:ext cx="8778240" cy="347472"/>
          </a:xfrm>
          <a:prstGeom prst="rect">
            <a:avLst/>
          </a:prstGeom>
          <a:solidFill>
            <a:srgbClr val="028090">
              <a:alpha val="30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66344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"Even a lightweight, transparent analysis pipeline can automatically parallelize real scientific code correctly."  —  Questions?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Auto-Par: A Compiler-Inspired Parallelization Tool</dc:title>
  <dc:subject>PptxGenJS Presentation</dc:subject>
  <dc:creator>Nile University CSCI465</dc:creator>
  <cp:lastModifiedBy>Nile University CSCI465</cp:lastModifiedBy>
  <cp:revision>1</cp:revision>
  <dcterms:created xsi:type="dcterms:W3CDTF">2026-05-16T10:37:53Z</dcterms:created>
  <dcterms:modified xsi:type="dcterms:W3CDTF">2026-05-16T10:37:53Z</dcterms:modified>
</cp:coreProperties>
</file>